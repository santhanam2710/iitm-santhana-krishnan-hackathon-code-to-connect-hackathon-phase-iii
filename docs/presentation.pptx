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6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D1626"/>
                </a:solidFill>
                <a:latin typeface="Calibri"/>
              </a:rPr>
              <a:t>Sentiment macro-F1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D6DC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6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DC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62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54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Naive word count</c:v>
                  </c:pt>
                  <c:pt idx="1">
                    <c:v>VADER</c:v>
                  </c:pt>
                  <c:pt idx="2">
                    <c:v>TRIDENT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</c:v>
                </c:pt>
                <c:pt idx="1">
                  <c:v>0.47</c:v>
                </c:pt>
                <c:pt idx="2">
                  <c:v>0.65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D16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2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6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D1626"/>
                </a:solidFill>
                <a:latin typeface="Calibri"/>
              </a:rPr>
              <a:t>CET1 ratio after stress, % (start 13.0)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CET1 after stress</c:v>
                </c:pt>
              </c:strCache>
            </c:strRef>
          </c:tx>
          <c:spPr>
            <a:solidFill>
              <a:srgbClr val="1F4F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6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Credit Event I=9</c:v>
                  </c:pt>
                  <c:pt idx="1">
                    <c:v>Geopolitical I=9</c:v>
                  </c:pt>
                  <c:pt idx="2">
                    <c:v>Macroeconomic I=9</c:v>
                  </c:pt>
                  <c:pt idx="3">
                    <c:v>COVID crash, Feb-Mar 2020*</c:v>
                  </c:pt>
                  <c:pt idx="4">
                    <c:v>SVB / regional-bank run, Mar 2023*</c:v>
                  </c:pt>
                  <c:pt idx="5">
                    <c:v>June 2022 CPI print and 75 bp hike*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</c:v>
                </c:pt>
                <c:pt idx="1">
                  <c:v>9.6</c:v>
                </c:pt>
                <c:pt idx="2">
                  <c:v>8</c:v>
                </c:pt>
                <c:pt idx="3">
                  <c:v>4.3</c:v>
                </c:pt>
                <c:pt idx="4">
                  <c:v>10.9</c:v>
                </c:pt>
                <c:pt idx="5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D16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2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story: in March 2023 a bank failed in under 48 hours, and the run spread through text first.
TRIDENT reads that text and turns it into a structured, audited risk signal in about 1.43 milliseconds.
One engine, two strategies, three signals: sentiment, event class and impact. The card on the right is a real signal from our SVB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 horizons from the same signals: tactical position sizing and strategic capital adequacy. We built both modules because they consume different fields of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critical path in amber: sources, adapters with circuit breakers, dedup, the five engine stages, the bus, FastAPI, the two modules. Kafka is the right answer at bank scale and the wrong one for a judge's laptop, so the bus is an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tile is a tech choice and the reason for it. Emphasize the abstain class and the gate: an honest Other beats a confident wrong label that fires a capital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one limitation honestly: the sentiment set is authored and optimistic, and the impact and Module A numbers come from a known-answer synthetic market that validates the pipeline. Real-data reruns are one command. Credibility is the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screen to pause on in the demo: the status flips from monitoring to triggered. The first headline was held because only one source reported it; the trigger came on independent confirmation. Then the capital number a risk committee actually 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limitations before the jury asks. Close with the one-line summary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· S&amp;P Global &amp; Crisil Campus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8A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 · S&amp;P Global &amp; Crisil Campus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8A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&amp; CRISIL CAMPUS HACKATHON 2026 · 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</a:t>
            </a:r>
            <a:pPr indent="0" marL="0">
              <a:buNone/>
            </a:pPr>
            <a:r>
              <a:rPr lang="en-US" sz="8000" b="1" dirty="0">
                <a:solidFill>
                  <a:srgbClr val="F0A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AI/NLP risk engine with a tactical index rebalancer and a wholesale-banking stress tester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0A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· two strategies · three signals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Full Name]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00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Madras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66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github.com/&lt;your-username&gt;/iitm-&lt;your-name&gt;-hackathon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868680"/>
            <a:ext cx="4069080" cy="5029200"/>
          </a:xfrm>
          <a:prstGeom prst="roundRect">
            <a:avLst>
              <a:gd name="adj" fmla="val 2247"/>
            </a:avLst>
          </a:prstGeom>
          <a:solidFill>
            <a:srgbClr val="18233A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1097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 · SVB REPLAY, 8 MAR 2023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1417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“SVB Financial announces emergency capital raise after $1.8 billion loss on bond portfolio sale”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SIVB · SVB Financial · alias 0.94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Event · liquidity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572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· 2 sources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5120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C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5120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 ms p50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06840" y="3822192"/>
            <a:ext cx="2286000" cy="54864"/>
          </a:xfrm>
          <a:prstGeom prst="rect">
            <a:avLst/>
          </a:prstGeom>
          <a:solidFill>
            <a:srgbClr val="2A3650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41180" y="3776472"/>
            <a:ext cx="45720" cy="146304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4370832"/>
            <a:ext cx="182880" cy="73152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4370832"/>
            <a:ext cx="182880" cy="73152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64040" y="4370832"/>
            <a:ext cx="182880" cy="73152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4370832"/>
            <a:ext cx="182880" cy="73152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21240" y="4370832"/>
            <a:ext cx="182880" cy="73152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9840" y="4370832"/>
            <a:ext cx="182880" cy="73152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78440" y="4370832"/>
            <a:ext cx="182880" cy="73152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07040" y="4370832"/>
            <a:ext cx="182880" cy="73152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35640" y="4370832"/>
            <a:ext cx="182880" cy="73152"/>
          </a:xfrm>
          <a:prstGeom prst="rect">
            <a:avLst/>
          </a:prstGeom>
          <a:solidFill>
            <a:srgbClr val="FF8A7A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064240" y="4370832"/>
            <a:ext cx="182880" cy="73152"/>
          </a:xfrm>
          <a:prstGeom prst="rect">
            <a:avLst/>
          </a:prstGeom>
          <a:solidFill>
            <a:srgbClr val="2A3650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8A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arrives as text hours before it arrives as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Market-moving news, filings and posts are unstructured; risk systems read structured feeds.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sources lag (GDELT 15 min, NewsAPI free 24 h) and are full of duplicates, rumors and ambiguous names.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signal must be fast, calibrated, explainable and tied to a decision.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SVB, March 2023 (UTC)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4572000" cy="0"/>
          </a:xfrm>
          <a:prstGeom prst="line">
            <a:avLst/>
          </a:prstGeom>
          <a:noFill/>
          <a:ln w="25400">
            <a:solidFill>
              <a:srgbClr val="D6D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4251960"/>
            <a:ext cx="182880" cy="182880"/>
          </a:xfrm>
          <a:prstGeom prst="ellipse">
            <a:avLst/>
          </a:prstGeom>
          <a:solidFill>
            <a:srgbClr val="B454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553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Mar 21:15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8280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raise after $1.8bn bond loss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4251960"/>
            <a:ext cx="182880" cy="182880"/>
          </a:xfrm>
          <a:prstGeom prst="ellipse">
            <a:avLst/>
          </a:prstGeom>
          <a:solidFill>
            <a:srgbClr val="B454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4553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8280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$42bn withdrawal requests in one 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4251960"/>
            <a:ext cx="182880" cy="182880"/>
          </a:xfrm>
          <a:prstGeom prst="ellipse">
            <a:avLst/>
          </a:prstGeom>
          <a:solidFill>
            <a:srgbClr val="B326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4553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 16:20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8280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close the bank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1920240"/>
            <a:ext cx="640080" cy="640080"/>
          </a:xfrm>
          <a:prstGeom prst="ellipse">
            <a:avLst/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pic>
        <p:nvPicPr>
          <p:cNvPr id="19" name="Image 0" descr="/home/claude/repo/docs/deck/icons/resolv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178" y="2061058"/>
            <a:ext cx="358445" cy="35844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132320" y="1901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223113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item to a company, a sector or the market; reject ambiguous names with a logged reason.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309360" y="3108960"/>
            <a:ext cx="640080" cy="640080"/>
          </a:xfrm>
          <a:prstGeom prst="ellipse">
            <a:avLst/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pic>
        <p:nvPicPr>
          <p:cNvPr id="23" name="Image 1" descr="/home/claude/repo/docs/deck/icons/scor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178" y="3249778"/>
            <a:ext cx="358445" cy="35844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132320" y="3090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7132320" y="341985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Target-aware sentiment, event class with abstain, impact calibrated to realized moves; confidence and evidence on each.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09360" y="4297680"/>
            <a:ext cx="640080" cy="640080"/>
          </a:xfrm>
          <a:prstGeom prst="ellipse">
            <a:avLst/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pic>
        <p:nvPicPr>
          <p:cNvPr id="27" name="Image 2" descr="/home/claude/repo/docs/deck/icons/act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4438498"/>
            <a:ext cx="358445" cy="35844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132320" y="42793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7132320" y="46085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tilts a 15-stock index (minutes to days). Module B stress-tests a wholesale book and reports CET1 (capital).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309360" y="54864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92240" y="5532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modules built: A consumes sentiment, B consumes event + impact, so all three fields are exercised.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run on a laptop, with a clear path to bank scale</a:t>
            </a:r>
            <a:endParaRPr lang="en-US" sz="3000" dirty="0"/>
          </a:p>
        </p:txBody>
      </p:sp>
      <p:pic>
        <p:nvPicPr>
          <p:cNvPr id="4" name="Image 0" descr="/home/claude/repo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0100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23960" y="1463040"/>
            <a:ext cx="502920" cy="502920"/>
          </a:xfrm>
          <a:prstGeom prst="ellipse">
            <a:avLst/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pic>
        <p:nvPicPr>
          <p:cNvPr id="6" name="Image 1" descr="/home/claude/repo/docs/deck/icons/clock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602" y="157368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464040" y="1444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or live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464040" y="175564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 of SVB-2023 and COVID-2020 means the demo needs no keys and no network; live mode polls RSS, SEC EDGAR, GDELT, NewsAPI and Reddit.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823960" y="2834640"/>
            <a:ext cx="502920" cy="502920"/>
          </a:xfrm>
          <a:prstGeom prst="ellipse">
            <a:avLst/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pic>
        <p:nvPicPr>
          <p:cNvPr id="10" name="Image 2" descr="/home/claude/repo/docs/deck/icons/layers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602" y="2945282"/>
            <a:ext cx="281635" cy="2816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464040" y="28163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bus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464040" y="312724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asyncio queue by default; Redis Streams with one setting; Kafka partitioned by ticker behind the same interface.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823960" y="4206240"/>
            <a:ext cx="502920" cy="502920"/>
          </a:xfrm>
          <a:prstGeom prst="ellipse">
            <a:avLst/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pic>
        <p:nvPicPr>
          <p:cNvPr id="14" name="Image 3" descr="/home/claude/repo/docs/deck/icons/gi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602" y="4316882"/>
            <a:ext cx="281635" cy="2816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464040" y="41879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on every signal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9464040" y="449884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versions, data hash and replay id travel with each signal; a champion/challenger registry logs every model change.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engine 1.43 ms p50 / 3.29 ms p95 per document · Module A rebalance 0.34 ms · Module B full revaluation 2.75 ms · 855 docs/s on one CPU process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choices that separate signal from noise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repo/docs/deck/icons/targe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8123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Target-aware sentiment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lexicon with Loughran-McDonald words, negation and delta phrases, blended with FinBERT exported to ONNX INT8. Scored per entity: “Microsoft beats Google” is + for MSFT, − for GOOGL.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scores “Profit plunges after default” as +0.44. TRIDENT: −0.91.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repo/docs/deck/icons/shield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18123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1737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with an abstain class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331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 plus Other, weak labels from keywords, 8-K Item codes and GDELT CAMEO, distilled into DeBERTa. A champion/challenger registry only promotes a model that beats the incumbent.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Synthetic-only challengers were rejected (F1 0.48 vs 0.65).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/home/claude/repo/docs/deck/icons/chart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4069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calibrated to realized moves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4663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ordinal model maps severity, |sentiment|, novelty, burst velocity, source reliability and magnitude cues to deciles of |CAR[0,+1]| from a market-model event study.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Spearman 0.20 (5-seed mean 0.23).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0" y="4023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/home/claude/repo/docs/deck/icons/bank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414406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32320" y="4069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B, the way a bank measures it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446520" y="4663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Vasicek PD migration, duration-convexity, Greeks and Black-Scholes, Basel IRB RWA and CET1, stressed-correlation VaR, reverse stress test. A two-source gate stops single headlines.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644652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I=9: CET1 13.0% → 8.4%.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 · Pydantic · scikit-learn · SciPy · cvxpy · transformers + onnxruntime · spaCy · ECharts · 55 tests incl. Hypothesis property tests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baselines, with the data source named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 ms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93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latency p50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3.29 ms · 855 docs/s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4173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527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vs 0.47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093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F1 vs VADER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180-headline set (optimistic)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4173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1527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2093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after Credit I=9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13.0% · P&amp;L -80m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70264" y="14173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53144" y="1527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58/58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153144" y="2093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tests passed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53144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precision 1.00 · recall 0.98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2971800"/>
          <a:ext cx="35661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297680" y="2971800"/>
          <a:ext cx="43891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8869680" y="297180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52560" y="3090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A, out of sample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05256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3200" dirty="0"/>
          </a:p>
        </p:txBody>
      </p:sp>
      <p:sp>
        <p:nvSpPr>
          <p:cNvPr id="25" name="Text 21"/>
          <p:cNvSpPr txBox="1"/>
          <p:nvPr/>
        </p:nvSpPr>
        <p:spPr>
          <a:xfrm>
            <a:off x="9052560" y="3977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information ratio (gross 1.23), 2024-2025, parameters chosen on earlier years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9052560" y="47548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seeds: net IR 0.29 ± 0.62, IC 0.064. The signal is real; costs decide whether it pays.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sentiment and entities on authored 180-headline set (optimistic); impact and Module A on synthetic known-answer market; Module B on the synthetic wholesale book. Regenerate on real data with scripts/run_all_results.py. *approximate historical moves.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headline to capital decision in one replay</a:t>
            </a:r>
            <a:endParaRPr lang="en-US" sz="3000" dirty="0"/>
          </a:p>
        </p:txBody>
      </p:sp>
      <p:pic>
        <p:nvPicPr>
          <p:cNvPr id="4" name="Image 0" descr="/home/claude/repo/docs/screenshots/03_module_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41696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6675120" cy="4169664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SVB replay, 8 March 2023 (UTC)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21:15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1828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headline, impact 8, one source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515600" y="1947672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0" y="194767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21:40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2542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wire confirms the story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515600" y="2660904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15600" y="26609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2552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32552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-90m · CET1 13.0% → 7.9%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0515600" y="3374136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E6EEF8"/>
          </a:solidFill>
          <a:ln w="12700">
            <a:solidFill>
              <a:srgbClr val="E6EE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15600" y="33741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VIEW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498080" y="4023360"/>
            <a:ext cx="457200" cy="457200"/>
          </a:xfrm>
          <a:prstGeom prst="ellipse">
            <a:avLst/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pic>
        <p:nvPicPr>
          <p:cNvPr id="20" name="Image 1" descr="/home/claude/repo/docs/deck/icons/ey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664" y="4123944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092440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surveillance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092440" y="42611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Obligors flagged within minutes, ranked by calibrated impact, evidence attached.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498080" y="4773168"/>
            <a:ext cx="457200" cy="457200"/>
          </a:xfrm>
          <a:prstGeom prst="ellipse">
            <a:avLst/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pic>
        <p:nvPicPr>
          <p:cNvPr id="24" name="Image 2" descr="/home/claude/repo/docs/deck/icons/chart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64" y="487375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092440" y="4736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092440" y="50109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cost-aware tilt with caps and bands, not headline chasing.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498080" y="5522976"/>
            <a:ext cx="457200" cy="457200"/>
          </a:xfrm>
          <a:prstGeom prst="ellipse">
            <a:avLst/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</p:sp>
      <p:pic>
        <p:nvPicPr>
          <p:cNvPr id="28" name="Image 3" descr="/home/claude/repo/docs/deck/icons/bank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5623560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09244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treasury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8092440" y="5760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 CET1, VaR and reverse stress for the risk committee.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2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is weak, and what we would build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49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sources lag by minutes to a day; engine speed is not end-to-end speed.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entity scores use an authored set; real PhraseBank and labeled headlines are the numbers to report.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synthetic text is easy to detect (AUC 0.95); it is capped at 30% of training and never used for evaluation.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Module A were validated on a known-answer market; real-price results depend on data we fetch locally.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without maturity adjustment; Greeks are linear except the options book.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FD1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5349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FinBERT and DeBERTa on real labels; serve ONNX INT8.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market: NSE universe, Indian regulatory disclosures, Hindi and regional-language news via GDELT.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synthetic data that passes adversarial validation.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contagion through a learned correlation network; online recalibration of impact.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Rating-surveillance view: map signals to obligors in a credit portfolio.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0A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TRIDENT: text in, capital decision out, every step auditable.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8A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TRIDENT - AI/NLP Risk Engine</dc:title>
  <dc:subject>PptxGenJS Presentation</dc:subject>
  <dc:creator>[Your Full Name]</dc:creator>
  <cp:lastModifiedBy>[Your Full Name]</cp:lastModifiedBy>
  <cp:revision>1</cp:revision>
  <dcterms:created xsi:type="dcterms:W3CDTF">2026-10-11T12:28:11Z</dcterms:created>
  <dcterms:modified xsi:type="dcterms:W3CDTF">2026-10-11T12:28:11Z</dcterms:modified>
</cp:coreProperties>
</file>